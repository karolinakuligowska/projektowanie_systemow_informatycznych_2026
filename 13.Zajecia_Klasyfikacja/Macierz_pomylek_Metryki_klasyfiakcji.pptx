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17" r:id="rId2"/>
    <p:sldId id="592" r:id="rId3"/>
    <p:sldId id="320" r:id="rId4"/>
    <p:sldId id="585" r:id="rId5"/>
    <p:sldId id="586" r:id="rId6"/>
    <p:sldId id="588" r:id="rId7"/>
    <p:sldId id="587" r:id="rId8"/>
    <p:sldId id="589" r:id="rId9"/>
    <p:sldId id="593" r:id="rId10"/>
    <p:sldId id="595" r:id="rId11"/>
    <p:sldId id="590" r:id="rId12"/>
    <p:sldId id="591" r:id="rId13"/>
    <p:sldId id="584" r:id="rId14"/>
  </p:sldIdLst>
  <p:sldSz cx="9144000" cy="6858000" type="screen4x3"/>
  <p:notesSz cx="6881813" cy="100028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rgbClr val="0C3580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rgbClr val="0C3580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rgbClr val="0C3580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rgbClr val="0C3580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rgbClr val="0C3580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rgbClr val="0C3580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rgbClr val="0C3580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rgbClr val="0C3580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rgbClr val="0C3580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1" userDrawn="1">
          <p15:clr>
            <a:srgbClr val="A4A3A4"/>
          </p15:clr>
        </p15:guide>
        <p15:guide id="2" pos="269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0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AC0626"/>
    <a:srgbClr val="0C3580"/>
    <a:srgbClr val="FF00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 pośredni 2 — Ak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D083AE6-46FA-4A59-8FB0-9F97EB10719F}" styleName="Styl jasny 3 — Ak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Bez stylu, bez siatk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Styl z motywem 1 — Ak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Styl z motywem 1 — Ak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 z motywem 1 — Ak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Styl z motywem 1 — Ak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Styl z motywem 1 — Ak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D7B26C5-4107-4FEC-AEDC-1716B250A1EF}" styleName="Styl jasny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71" autoAdjust="0"/>
    <p:restoredTop sz="71895" autoAdjust="0"/>
  </p:normalViewPr>
  <p:slideViewPr>
    <p:cSldViewPr>
      <p:cViewPr>
        <p:scale>
          <a:sx n="90" d="100"/>
          <a:sy n="90" d="100"/>
        </p:scale>
        <p:origin x="2472" y="-150"/>
      </p:cViewPr>
      <p:guideLst>
        <p:guide orient="horz" pos="2341"/>
        <p:guide pos="2699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>
        <p:scale>
          <a:sx n="100" d="100"/>
          <a:sy n="100" d="100"/>
        </p:scale>
        <p:origin x="2390" y="-485"/>
      </p:cViewPr>
      <p:guideLst>
        <p:guide orient="horz" pos="3150"/>
        <p:guide pos="216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8.xml"/><Relationship Id="rId3" Type="http://schemas.openxmlformats.org/officeDocument/2006/relationships/slide" Target="slides/slide3.xml"/><Relationship Id="rId7" Type="http://schemas.openxmlformats.org/officeDocument/2006/relationships/slide" Target="slides/slide7.xml"/><Relationship Id="rId12" Type="http://schemas.openxmlformats.org/officeDocument/2006/relationships/slide" Target="slides/slide13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11" Type="http://schemas.openxmlformats.org/officeDocument/2006/relationships/slide" Target="slides/slide12.xml"/><Relationship Id="rId5" Type="http://schemas.openxmlformats.org/officeDocument/2006/relationships/slide" Target="slides/slide5.xml"/><Relationship Id="rId10" Type="http://schemas.openxmlformats.org/officeDocument/2006/relationships/slide" Target="slides/slide11.xml"/><Relationship Id="rId4" Type="http://schemas.openxmlformats.org/officeDocument/2006/relationships/slide" Target="slides/slide4.xml"/><Relationship Id="rId9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10342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0488" y="0"/>
            <a:ext cx="2981325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10342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02775"/>
            <a:ext cx="2982913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10342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0488" y="9502775"/>
            <a:ext cx="2981325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837E04C-3DCF-4577-80B9-8B0D7E2E9D3D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4717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1388" y="166688"/>
            <a:ext cx="5000625" cy="37512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485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0" y="4084638"/>
            <a:ext cx="6881813" cy="591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noProof="0"/>
              <a:t>Kliknij, aby edytować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2025076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" name="Symbol zastępczy notatek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Confusion</a:t>
            </a:r>
            <a:r>
              <a:rPr lang="pl-PL" dirty="0"/>
              <a:t> matrix, Macierz błędów klasyfikacji, Macierz pomyłek.</a:t>
            </a:r>
          </a:p>
          <a:p>
            <a:endParaRPr lang="pl-PL" dirty="0"/>
          </a:p>
          <a:p>
            <a:r>
              <a:rPr lang="pl-PL" dirty="0"/>
              <a:t>Macierz prezentuje wyniki badanego klasyfikatora, określa ona ile przypadków i do jakich klas zostało</a:t>
            </a:r>
          </a:p>
          <a:p>
            <a:r>
              <a:rPr lang="pl-PL" dirty="0"/>
              <a:t>przydzielonych. Na jej podstawie możemy oszacować poprawność badanego klasyfikatora.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2E75D-78EE-627D-92A5-E34721156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DCAB9E13-9646-0669-8788-65FD2A374D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" name="Symbol zastępczy notatek 1">
            <a:extLst>
              <a:ext uri="{FF2B5EF4-FFF2-40B4-BE49-F238E27FC236}">
                <a16:creationId xmlns:a16="http://schemas.microsoft.com/office/drawing/2014/main" id="{43B3E89A-AC82-A9FD-D326-26F66868A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Confusion</a:t>
            </a:r>
            <a:r>
              <a:rPr lang="pl-PL" dirty="0"/>
              <a:t> matrix, Macierz błędów klasyfikacji, Macierz pomyłek.</a:t>
            </a:r>
          </a:p>
          <a:p>
            <a:endParaRPr lang="pl-PL" dirty="0"/>
          </a:p>
          <a:p>
            <a:r>
              <a:rPr lang="pl-PL" dirty="0"/>
              <a:t>Macierz prezentuje wyniki badanego klasyfikatora, określa ona ile przypadków i do jakich klas zostało</a:t>
            </a:r>
          </a:p>
          <a:p>
            <a:r>
              <a:rPr lang="pl-PL" dirty="0"/>
              <a:t>przydzielonych. Na jej podstawie możemy oszacować poprawność badanego klasyfikatora.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67139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" name="Symbol zastępczy notatek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Dokładność klasyfikacji jest punktem wyjścia oceny modelu:</a:t>
            </a:r>
          </a:p>
          <a:p>
            <a:r>
              <a:rPr lang="pl-PL" dirty="0"/>
              <a:t>ACC = (True </a:t>
            </a:r>
            <a:r>
              <a:rPr lang="pl-PL" dirty="0" err="1"/>
              <a:t>Positive</a:t>
            </a:r>
            <a:r>
              <a:rPr lang="pl-PL" dirty="0"/>
              <a:t> + True </a:t>
            </a:r>
            <a:r>
              <a:rPr lang="pl-PL" dirty="0" err="1"/>
              <a:t>Negative</a:t>
            </a:r>
            <a:r>
              <a:rPr lang="pl-PL" dirty="0"/>
              <a:t>)/(</a:t>
            </a:r>
            <a:r>
              <a:rPr lang="pl-PL" dirty="0" err="1"/>
              <a:t>All</a:t>
            </a:r>
            <a:r>
              <a:rPr lang="pl-PL" dirty="0"/>
              <a:t> </a:t>
            </a:r>
            <a:r>
              <a:rPr lang="pl-PL" dirty="0" err="1"/>
              <a:t>observations</a:t>
            </a:r>
            <a:r>
              <a:rPr lang="pl-PL" dirty="0"/>
              <a:t>)</a:t>
            </a:r>
          </a:p>
          <a:p>
            <a:endParaRPr lang="pl-PL" dirty="0"/>
          </a:p>
          <a:p>
            <a:r>
              <a:rPr lang="pl-PL" dirty="0"/>
              <a:t>Jest to liczba poprawnych przewidywań podzielona przez całkowitą liczbę wykonanych przewidywań (pomnożona przez 100, aby zmienić ją w procent).</a:t>
            </a:r>
          </a:p>
          <a:p>
            <a:endParaRPr lang="pl-PL" dirty="0"/>
          </a:p>
          <a:p>
            <a:r>
              <a:rPr lang="pl-PL" dirty="0"/>
              <a:t>Występują jednak problemy: dokładność zakłada równe wagi dla obu rodzaju błędów. </a:t>
            </a:r>
          </a:p>
          <a:p>
            <a:r>
              <a:rPr lang="pl-PL" dirty="0"/>
              <a:t>Dokładność 99% może być doskonała, dobra, przeciętna lub kiepska w zależności od problemu. </a:t>
            </a:r>
          </a:p>
          <a:p>
            <a:r>
              <a:rPr lang="pl-PL" dirty="0"/>
              <a:t>Dokładności powinniśmy używać tylko wtedy, gdy w każdej klasie jest taka sama liczba/proporcja obserwacji; wszystkie przewidywania i błędy prognoz są równie ważne.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" name="Symbol zastępczy notatek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Precyzja (Precision) – dzielimy całkowitą liczbę poprawnie sklasyfikowanych pozytywnych przypadków przez całkowitą liczbę przewidywanych pozytywnych przypadków.</a:t>
            </a:r>
          </a:p>
          <a:p>
            <a:endParaRPr lang="pl-PL" dirty="0"/>
          </a:p>
          <a:p>
            <a:r>
              <a:rPr lang="pl-PL" dirty="0"/>
              <a:t>Wysoka Precyzja wskazuje, że przypadek oznaczony jako „tak” jest rzeczywiście dodatni (mała liczba FP).</a:t>
            </a:r>
          </a:p>
          <a:p>
            <a:endParaRPr lang="pl-PL" dirty="0"/>
          </a:p>
          <a:p>
            <a:r>
              <a:rPr lang="pl-PL" dirty="0"/>
              <a:t>Precyzja pozytywna: (</a:t>
            </a:r>
            <a:r>
              <a:rPr lang="pl-PL" dirty="0" err="1"/>
              <a:t>positive</a:t>
            </a:r>
            <a:r>
              <a:rPr lang="pl-PL" dirty="0"/>
              <a:t> </a:t>
            </a:r>
            <a:r>
              <a:rPr lang="pl-PL" dirty="0" err="1"/>
              <a:t>predictive</a:t>
            </a:r>
            <a:r>
              <a:rPr lang="pl-PL" dirty="0"/>
              <a:t> </a:t>
            </a:r>
            <a:r>
              <a:rPr lang="pl-PL" dirty="0" err="1"/>
              <a:t>value</a:t>
            </a:r>
            <a:r>
              <a:rPr lang="pl-PL" dirty="0"/>
              <a:t>, PPV)</a:t>
            </a:r>
          </a:p>
          <a:p>
            <a:r>
              <a:rPr lang="pl-PL" dirty="0"/>
              <a:t>Dla modelu przewidującego chorobę jako „tak” =&gt; Odpowiada na pytanie: Jeśli prognoza modelu jest ”tak”, jakie jest prawdopodobieństwo, że osoba badana jest chora?</a:t>
            </a:r>
          </a:p>
          <a:p>
            <a:endParaRPr lang="pl-PL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" name="Symbol zastępczy notatek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Czułość / wrażliwość (</a:t>
            </a:r>
            <a:r>
              <a:rPr lang="pl-PL" dirty="0" err="1"/>
              <a:t>Recall</a:t>
            </a:r>
            <a:r>
              <a:rPr lang="pl-PL" dirty="0"/>
              <a:t>, </a:t>
            </a:r>
            <a:r>
              <a:rPr lang="pl-PL" dirty="0" err="1"/>
              <a:t>Sensitivity</a:t>
            </a:r>
            <a:r>
              <a:rPr lang="pl-PL" dirty="0"/>
              <a:t>, True </a:t>
            </a:r>
            <a:r>
              <a:rPr lang="pl-PL" dirty="0" err="1"/>
              <a:t>Positive</a:t>
            </a:r>
            <a:r>
              <a:rPr lang="pl-PL" dirty="0"/>
              <a:t> </a:t>
            </a:r>
            <a:r>
              <a:rPr lang="pl-PL" dirty="0" err="1"/>
              <a:t>Rate</a:t>
            </a:r>
            <a:r>
              <a:rPr lang="pl-PL" dirty="0"/>
              <a:t>) – stosunek całkowitej liczby poprawnie sklasyfikowanych przypadków pozytywnych do wszystkich rzeczywistych przypadków pozytywnych.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Wysoki </a:t>
            </a:r>
            <a:r>
              <a:rPr lang="pl-PL" dirty="0" err="1"/>
              <a:t>Recall</a:t>
            </a:r>
            <a:r>
              <a:rPr lang="pl-PL" dirty="0"/>
              <a:t> wskazuje, że klasa „tak” jest poprawnie rozpoznana (mała liczba </a:t>
            </a:r>
            <a:r>
              <a:rPr lang="pl-PL" dirty="0" err="1"/>
              <a:t>False</a:t>
            </a:r>
            <a:r>
              <a:rPr lang="pl-PL" dirty="0"/>
              <a:t> </a:t>
            </a:r>
            <a:r>
              <a:rPr lang="pl-PL" dirty="0" err="1"/>
              <a:t>Negatives</a:t>
            </a:r>
            <a:r>
              <a:rPr lang="pl-PL" dirty="0"/>
              <a:t>).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Dla modelu przewidującego chorobę jako „tak” =&gt; Prawdopodobieństwo, że dla osoby chorej model zaprognozuje „tak” (że jest ona chora).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" name="Symbol zastępczy notatek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Specyficzność (</a:t>
            </a:r>
            <a:r>
              <a:rPr lang="pl-PL" dirty="0" err="1"/>
              <a:t>Specificity</a:t>
            </a:r>
            <a:r>
              <a:rPr lang="pl-PL" dirty="0"/>
              <a:t>, True </a:t>
            </a:r>
            <a:r>
              <a:rPr lang="pl-PL" dirty="0" err="1"/>
              <a:t>Negative</a:t>
            </a:r>
            <a:r>
              <a:rPr lang="pl-PL" dirty="0"/>
              <a:t> </a:t>
            </a:r>
            <a:r>
              <a:rPr lang="pl-PL" dirty="0" err="1"/>
              <a:t>Rate</a:t>
            </a:r>
            <a:r>
              <a:rPr lang="pl-PL" dirty="0"/>
              <a:t>) – stosunek całkowitej liczby poprawnie sklasyfikowanych przypadków negatywnych do wszystkich rzeczywistych przypadków negatywnych.</a:t>
            </a:r>
          </a:p>
          <a:p>
            <a:endParaRPr lang="pl-PL" dirty="0"/>
          </a:p>
          <a:p>
            <a:r>
              <a:rPr lang="pl-PL" dirty="0"/>
              <a:t>Wysoka Specyficzność oznacza że klasa „nie” jest poprawnie rozpoznana (mała liczba </a:t>
            </a:r>
            <a:r>
              <a:rPr lang="pl-PL" dirty="0" err="1"/>
              <a:t>False</a:t>
            </a:r>
            <a:r>
              <a:rPr lang="pl-PL" dirty="0"/>
              <a:t> </a:t>
            </a:r>
            <a:r>
              <a:rPr lang="pl-PL" dirty="0" err="1"/>
              <a:t>Positives</a:t>
            </a:r>
            <a:r>
              <a:rPr lang="pl-PL" dirty="0"/>
              <a:t>).</a:t>
            </a:r>
          </a:p>
          <a:p>
            <a:endParaRPr lang="pl-PL" dirty="0"/>
          </a:p>
          <a:p>
            <a:r>
              <a:rPr lang="pl-PL" dirty="0"/>
              <a:t>Dla modelu przewidującego chorobę jako „tak” =&gt; Prawdopodobieństwo, że dla osoby zdrowej model zaprognozuje „nie” (że nie ma choroby).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" name="Symbol zastępczy notatek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Precyzja negatywna: (</a:t>
            </a:r>
            <a:r>
              <a:rPr lang="pl-PL" dirty="0" err="1"/>
              <a:t>negative</a:t>
            </a:r>
            <a:r>
              <a:rPr lang="pl-PL" dirty="0"/>
              <a:t> </a:t>
            </a:r>
            <a:r>
              <a:rPr lang="pl-PL" dirty="0" err="1"/>
              <a:t>predictive</a:t>
            </a:r>
            <a:r>
              <a:rPr lang="pl-PL" dirty="0"/>
              <a:t> </a:t>
            </a:r>
            <a:r>
              <a:rPr lang="pl-PL" dirty="0" err="1"/>
              <a:t>value</a:t>
            </a:r>
            <a:r>
              <a:rPr lang="pl-PL" dirty="0"/>
              <a:t>, NPV) - dzielimy całkowitą liczbę poprawnie sklasyfikowanych negatywnych przypadków przez całkowitą liczbę przewidywanych negatywnych przypadków.</a:t>
            </a:r>
          </a:p>
          <a:p>
            <a:endParaRPr lang="pl-PL" dirty="0"/>
          </a:p>
          <a:p>
            <a:r>
              <a:rPr lang="pl-PL" dirty="0"/>
              <a:t>Wysoka Precyzja Negatywna wskazuje, że przypadek oznaczony jako "nie" jest rzeczywiście negatywny (mała liczba FN).</a:t>
            </a:r>
          </a:p>
          <a:p>
            <a:endParaRPr lang="pl-PL" dirty="0"/>
          </a:p>
          <a:p>
            <a:r>
              <a:rPr lang="pl-PL" dirty="0"/>
              <a:t>Dla modelu przewidującego chorobę jako „tak” =&gt; Odpowiada na pytanie: Jeśli prognoza modelu jest „nie”, jakie jest prawdopodobieństwo, że osoba badana jest zdrowa?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" name="Symbol zastępczy notatek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Współczynnik F (F1 </a:t>
            </a:r>
            <a:r>
              <a:rPr lang="pl-PL" dirty="0" err="1"/>
              <a:t>Score</a:t>
            </a:r>
            <a:r>
              <a:rPr lang="pl-PL" dirty="0"/>
              <a:t>) </a:t>
            </a:r>
          </a:p>
          <a:p>
            <a:r>
              <a:rPr lang="pl-PL" dirty="0"/>
              <a:t>Miara F, która wykorzystuje średnią harmoniczną (precyzji i czułości) zamiast średniej arytmetycznej. Średnia harmoniczna faworyzuje równowagę między dwiema wartościami i karze sytuacje, gdy jedna z nich jest znacznie niższa.</a:t>
            </a:r>
          </a:p>
          <a:p>
            <a:endParaRPr lang="pl-PL" dirty="0"/>
          </a:p>
          <a:p>
            <a:r>
              <a:rPr lang="pl-PL" dirty="0"/>
              <a:t>Ze względu na właściwości średniej harmonicznej, F1 daje równą wagę obu miarom (precyzji i czułości) i dlatego zawsze będzie „bliżej słabszej strony” modelu.</a:t>
            </a:r>
          </a:p>
          <a:p>
            <a:endParaRPr lang="pl-PL" dirty="0"/>
          </a:p>
          <a:p>
            <a:r>
              <a:rPr lang="pl-PL" dirty="0"/>
              <a:t>F1 jest stosowane, gdy ważne jest jednoczesne zminimalizowanie zarówno </a:t>
            </a:r>
            <a:r>
              <a:rPr lang="pl-PL" dirty="0" err="1"/>
              <a:t>False</a:t>
            </a:r>
            <a:r>
              <a:rPr lang="pl-PL" dirty="0"/>
              <a:t> </a:t>
            </a:r>
            <a:r>
              <a:rPr lang="pl-PL" dirty="0" err="1"/>
              <a:t>Positives</a:t>
            </a:r>
            <a:r>
              <a:rPr lang="pl-PL" dirty="0"/>
              <a:t>, jak i </a:t>
            </a:r>
            <a:r>
              <a:rPr lang="pl-PL" dirty="0" err="1"/>
              <a:t>False</a:t>
            </a:r>
            <a:r>
              <a:rPr lang="pl-PL" dirty="0"/>
              <a:t> </a:t>
            </a:r>
            <a:r>
              <a:rPr lang="pl-PL" dirty="0" err="1"/>
              <a:t>Negatives</a:t>
            </a:r>
            <a:r>
              <a:rPr lang="pl-PL" dirty="0"/>
              <a:t>, czyli osiągnięcie balansu między precyzją a czułością. Dlatego jeśli chcemy stworzyć zrównoważony model klasyfikacji z optymalną równowagą czułości i precyzji, </a:t>
            </a:r>
            <a:r>
              <a:rPr lang="pl-PL" b="1" dirty="0"/>
              <a:t>możemy starać się zmaksymalizować wynik F1.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23F26-FBB4-690E-509E-150947528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>
            <a:extLst>
              <a:ext uri="{FF2B5EF4-FFF2-40B4-BE49-F238E27FC236}">
                <a16:creationId xmlns:a16="http://schemas.microsoft.com/office/drawing/2014/main" id="{E39DDEAE-EB76-F073-8DDD-39F0E57508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" name="Symbol zastępczy notatek 1">
            <a:extLst>
              <a:ext uri="{FF2B5EF4-FFF2-40B4-BE49-F238E27FC236}">
                <a16:creationId xmlns:a16="http://schemas.microsoft.com/office/drawing/2014/main" id="{29AFCB75-4424-D820-A2F3-8DCC208E0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pl-PL" b="1" dirty="0"/>
              <a:t>Precision i NPV</a:t>
            </a:r>
            <a:r>
              <a:rPr lang="pl-PL" dirty="0"/>
              <a:t> dotyczą </a:t>
            </a:r>
            <a:r>
              <a:rPr lang="pl-PL" b="1" dirty="0"/>
              <a:t>jakości przewidywanych etykiet (tak/nie)</a:t>
            </a:r>
            <a:r>
              <a:rPr lang="pl-PL" dirty="0"/>
              <a:t>.</a:t>
            </a:r>
          </a:p>
          <a:p>
            <a:pPr>
              <a:buNone/>
            </a:pPr>
            <a:r>
              <a:rPr lang="pl-PL" b="1" dirty="0" err="1"/>
              <a:t>Recall</a:t>
            </a:r>
            <a:r>
              <a:rPr lang="pl-PL" b="1" dirty="0"/>
              <a:t> i </a:t>
            </a:r>
            <a:r>
              <a:rPr lang="pl-PL" b="1" dirty="0" err="1"/>
              <a:t>Specificity</a:t>
            </a:r>
            <a:r>
              <a:rPr lang="pl-PL" dirty="0"/>
              <a:t> dotyczą </a:t>
            </a:r>
            <a:r>
              <a:rPr lang="pl-PL" b="1" dirty="0"/>
              <a:t>zdolności wykrywania rzeczywistych przypadków (tak/nie)</a:t>
            </a:r>
            <a:r>
              <a:rPr lang="pl-PL" dirty="0"/>
              <a:t>.</a:t>
            </a:r>
          </a:p>
          <a:p>
            <a:pPr>
              <a:buNone/>
            </a:pPr>
            <a:r>
              <a:rPr lang="pl-PL" b="1" dirty="0"/>
              <a:t>F1 </a:t>
            </a:r>
            <a:r>
              <a:rPr lang="pl-PL" b="1" dirty="0" err="1"/>
              <a:t>Score</a:t>
            </a:r>
            <a:r>
              <a:rPr lang="pl-PL" dirty="0"/>
              <a:t> mierzy </a:t>
            </a:r>
            <a:r>
              <a:rPr lang="pl-PL" b="1" dirty="0"/>
              <a:t>równowagę</a:t>
            </a:r>
            <a:r>
              <a:rPr lang="pl-PL" dirty="0"/>
              <a:t> między Precision i </a:t>
            </a:r>
            <a:r>
              <a:rPr lang="pl-PL" dirty="0" err="1"/>
              <a:t>Recall</a:t>
            </a:r>
            <a:r>
              <a:rPr lang="pl-PL" dirty="0"/>
              <a:t>.</a:t>
            </a:r>
          </a:p>
          <a:p>
            <a:pPr>
              <a:buNone/>
            </a:pPr>
            <a:r>
              <a:rPr lang="pl-PL" b="1" dirty="0" err="1"/>
              <a:t>Accuracy</a:t>
            </a:r>
            <a:r>
              <a:rPr lang="pl-PL" dirty="0"/>
              <a:t> mierzy </a:t>
            </a:r>
            <a:r>
              <a:rPr lang="pl-PL" b="1" dirty="0"/>
              <a:t>ogólną trafność</a:t>
            </a:r>
            <a:r>
              <a:rPr lang="pl-PL" dirty="0"/>
              <a:t> wszystkich przewidywań.</a:t>
            </a:r>
          </a:p>
          <a:p>
            <a:r>
              <a:rPr lang="pl-PL" b="1" dirty="0"/>
              <a:t>AUC</a:t>
            </a:r>
            <a:r>
              <a:rPr lang="pl-PL" dirty="0"/>
              <a:t> mierzy </a:t>
            </a:r>
            <a:r>
              <a:rPr lang="pl-PL" b="1" dirty="0"/>
              <a:t>zdolność modelu do rozróżniania klas</a:t>
            </a:r>
            <a:r>
              <a:rPr lang="pl-PL" dirty="0"/>
              <a:t> niezależnie od ustawionego progu.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181936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" name="Symbol zastępczy notatek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Aby utworzyć krzywą ROC na jednej osi odkładamy wartość </a:t>
            </a:r>
            <a:r>
              <a:rPr lang="pl-PL" dirty="0" err="1"/>
              <a:t>Recall</a:t>
            </a:r>
            <a:r>
              <a:rPr lang="pl-PL" dirty="0"/>
              <a:t> (</a:t>
            </a:r>
            <a:r>
              <a:rPr lang="pl-PL" dirty="0" err="1"/>
              <a:t>sensitivity</a:t>
            </a:r>
            <a:r>
              <a:rPr lang="pl-PL" dirty="0"/>
              <a:t>, TPR, czułość), a na drugiej wartość (1-Specyficzność)=FPR</a:t>
            </a:r>
          </a:p>
          <a:p>
            <a:pPr>
              <a:buNone/>
            </a:pPr>
            <a:r>
              <a:rPr lang="en-US" dirty="0" err="1"/>
              <a:t>Oś</a:t>
            </a:r>
            <a:r>
              <a:rPr lang="en-US" dirty="0"/>
              <a:t> Y: </a:t>
            </a:r>
            <a:r>
              <a:rPr lang="en-US" b="1" dirty="0"/>
              <a:t>Recall / Sensitivity / True Positive Rate</a:t>
            </a:r>
            <a:endParaRPr lang="en-US" dirty="0"/>
          </a:p>
          <a:p>
            <a:r>
              <a:rPr lang="en-US" dirty="0" err="1"/>
              <a:t>Oś</a:t>
            </a:r>
            <a:r>
              <a:rPr lang="en-US" dirty="0"/>
              <a:t> X: </a:t>
            </a:r>
            <a:r>
              <a:rPr lang="pl-PL" b="1" dirty="0"/>
              <a:t>Fall-out / </a:t>
            </a:r>
            <a:r>
              <a:rPr lang="en-US" b="1" dirty="0"/>
              <a:t>False Positive Rate (FPR) = 1 - Specificity</a:t>
            </a:r>
            <a:endParaRPr lang="en-US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Fall-out (</a:t>
            </a:r>
            <a:r>
              <a:rPr lang="pl-PL" dirty="0" err="1"/>
              <a:t>False</a:t>
            </a:r>
            <a:r>
              <a:rPr lang="pl-PL" dirty="0"/>
              <a:t> </a:t>
            </a:r>
            <a:r>
              <a:rPr lang="pl-PL" dirty="0" err="1"/>
              <a:t>Positive</a:t>
            </a:r>
            <a:r>
              <a:rPr lang="pl-PL" dirty="0"/>
              <a:t> </a:t>
            </a:r>
            <a:r>
              <a:rPr lang="pl-PL" dirty="0" err="1"/>
              <a:t>Rate</a:t>
            </a:r>
            <a:r>
              <a:rPr lang="pl-PL" dirty="0"/>
              <a:t>, FPR) określa, jaki odsetek rzeczywistych przypadków negatywnych został błędnie sklasyfikowany jako pozytywny.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Niski FPR oznacza mało fałszywych alarmów = model rzadko błędnie oznacza zdrowych jako chorych.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Wysoka czułość = wysoka skuteczność wykrywania rzeczywistych pozytywów (np. model prawidłowo rozpoznaje pacjentów chorych).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" name="Symbol zastępczy notatek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Aby utworzyć krzywą ROC na jednej osi odkładamy wartość </a:t>
            </a:r>
            <a:r>
              <a:rPr lang="pl-PL" dirty="0" err="1"/>
              <a:t>Recall</a:t>
            </a:r>
            <a:r>
              <a:rPr lang="pl-PL" dirty="0"/>
              <a:t> (</a:t>
            </a:r>
            <a:r>
              <a:rPr lang="pl-PL" dirty="0" err="1"/>
              <a:t>sensitivity</a:t>
            </a:r>
            <a:r>
              <a:rPr lang="pl-PL" dirty="0"/>
              <a:t>, TPR, czułość), a na drugiej wartość (1-Specyficzność)=FPR</a:t>
            </a:r>
          </a:p>
          <a:p>
            <a:pPr>
              <a:buNone/>
            </a:pPr>
            <a:r>
              <a:rPr lang="en-US" dirty="0" err="1"/>
              <a:t>Oś</a:t>
            </a:r>
            <a:r>
              <a:rPr lang="en-US" dirty="0"/>
              <a:t> Y: </a:t>
            </a:r>
            <a:r>
              <a:rPr lang="en-US" b="1" dirty="0"/>
              <a:t>Recall / Sensitivity / True Positive Rate</a:t>
            </a:r>
            <a:endParaRPr lang="en-US" dirty="0"/>
          </a:p>
          <a:p>
            <a:r>
              <a:rPr lang="en-US" dirty="0" err="1"/>
              <a:t>Oś</a:t>
            </a:r>
            <a:r>
              <a:rPr lang="en-US" dirty="0"/>
              <a:t> X: </a:t>
            </a:r>
            <a:r>
              <a:rPr lang="pl-PL" b="1" dirty="0"/>
              <a:t>Fall-out / </a:t>
            </a:r>
            <a:r>
              <a:rPr lang="en-US" b="1" dirty="0"/>
              <a:t>False Positive Rate (FPR) = 1 - Specificity</a:t>
            </a:r>
            <a:endParaRPr lang="en-US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Wysoka czułość = wysoka skuteczność wykrywania rzeczywistych pozytywów (np. model prawidłowo rozpoznaje pacjentów chorych).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Niski FPR oznacza mało fałszywych alarmów = model rzadko błędnie oznacza zdrowych jako chorych.</a:t>
            </a:r>
          </a:p>
          <a:p>
            <a:pPr>
              <a:defRPr/>
            </a:pPr>
            <a:endParaRPr lang="pl-PL" dirty="0"/>
          </a:p>
          <a:p>
            <a:pPr>
              <a:defRPr/>
            </a:pPr>
            <a:r>
              <a:rPr lang="pl-PL" dirty="0"/>
              <a:t>Każdy punkt na krzywej ROC ma współrzędne (FPR , </a:t>
            </a:r>
            <a:r>
              <a:rPr lang="pl-PL" dirty="0" err="1"/>
              <a:t>Recall</a:t>
            </a:r>
            <a:r>
              <a:rPr lang="pl-PL" dirty="0"/>
              <a:t>). </a:t>
            </a:r>
          </a:p>
          <a:p>
            <a:pPr>
              <a:defRPr/>
            </a:pPr>
            <a:endParaRPr lang="pl-PL" dirty="0"/>
          </a:p>
          <a:p>
            <a:pPr>
              <a:buNone/>
            </a:pPr>
            <a:r>
              <a:rPr lang="pl-PL" b="1" dirty="0"/>
              <a:t>Krzywe ROC opisują zachowanie modelu klasyfikacyjnego przy różnych wartościach progu decyzyjnego</a:t>
            </a:r>
            <a:r>
              <a:rPr lang="pl-PL" dirty="0"/>
              <a:t> (ang. </a:t>
            </a:r>
            <a:r>
              <a:rPr lang="pl-PL" dirty="0" err="1"/>
              <a:t>classification</a:t>
            </a:r>
            <a:r>
              <a:rPr lang="pl-PL" dirty="0"/>
              <a:t> </a:t>
            </a:r>
            <a:r>
              <a:rPr lang="pl-PL" dirty="0" err="1"/>
              <a:t>threshold</a:t>
            </a:r>
            <a:r>
              <a:rPr lang="pl-PL" dirty="0"/>
              <a:t>).</a:t>
            </a:r>
            <a:br>
              <a:rPr lang="pl-PL" dirty="0"/>
            </a:br>
            <a:r>
              <a:rPr lang="pl-PL" dirty="0"/>
              <a:t>Zmieniając próg, zmieniamy kompromis między czułością a specyficznością, co prowadzi do różnych punktów na krzywej.</a:t>
            </a:r>
          </a:p>
          <a:p>
            <a:pPr>
              <a:buNone/>
            </a:pPr>
            <a:r>
              <a:rPr lang="pl-PL" b="1" dirty="0"/>
              <a:t>Pole pod krzywą ROC (AUC – </a:t>
            </a:r>
            <a:r>
              <a:rPr lang="pl-PL" b="1" dirty="0" err="1"/>
              <a:t>Area</a:t>
            </a:r>
            <a:r>
              <a:rPr lang="pl-PL" b="1" dirty="0"/>
              <a:t> Under </a:t>
            </a:r>
            <a:r>
              <a:rPr lang="pl-PL" b="1" dirty="0" err="1"/>
              <a:t>Curve</a:t>
            </a:r>
            <a:r>
              <a:rPr lang="pl-PL" b="1" dirty="0"/>
              <a:t>)</a:t>
            </a:r>
            <a:r>
              <a:rPr lang="pl-PL" dirty="0"/>
              <a:t> jest miarą ogólnej zdolności modelu do rozróżniania klas: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AUC = 0.5</a:t>
            </a:r>
            <a:r>
              <a:rPr lang="pl-PL" dirty="0"/>
              <a:t> oznacza </a:t>
            </a:r>
            <a:r>
              <a:rPr lang="pl-PL" b="1" dirty="0"/>
              <a:t>model losowy</a:t>
            </a:r>
            <a:r>
              <a:rPr lang="pl-PL" dirty="0"/>
              <a:t> (brak zdolności rozróżniania klas),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AUC = 1</a:t>
            </a:r>
            <a:r>
              <a:rPr lang="pl-PL" dirty="0"/>
              <a:t> oznacza </a:t>
            </a:r>
            <a:r>
              <a:rPr lang="pl-PL" b="1" dirty="0"/>
              <a:t>model idealny</a:t>
            </a:r>
            <a:r>
              <a:rPr lang="pl-PL" dirty="0"/>
              <a:t> (perfekcyjne rozróżnianie klas).</a:t>
            </a:r>
          </a:p>
          <a:p>
            <a:pPr>
              <a:defRPr/>
            </a:pPr>
            <a:endParaRPr lang="pl-PL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4"/>
          <p:cNvSpPr>
            <a:spLocks noChangeArrowheads="1"/>
          </p:cNvSpPr>
          <p:nvPr userDrawn="1"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992035"/>
          </a:solidFill>
          <a:ln w="9525">
            <a:solidFill>
              <a:srgbClr val="992035"/>
            </a:solidFill>
            <a:round/>
            <a:headEnd/>
            <a:tailEnd/>
          </a:ln>
        </p:spPr>
        <p:txBody>
          <a:bodyPr/>
          <a:lstStyle/>
          <a:p>
            <a:endParaRPr lang="pl-PL"/>
          </a:p>
        </p:txBody>
      </p:sp>
      <p:pic>
        <p:nvPicPr>
          <p:cNvPr id="5" name="Picture 25" descr="WN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332413"/>
            <a:ext cx="5397500" cy="152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1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pl-PL" noProof="0"/>
              <a:t>Kliknij, aby edytować styl wzorca tytułu</a:t>
            </a:r>
          </a:p>
        </p:txBody>
      </p:sp>
      <p:sp>
        <p:nvSpPr>
          <p:cNvPr id="821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000"/>
            </a:lvl1pPr>
          </a:lstStyle>
          <a:p>
            <a:pPr lvl="0"/>
            <a:r>
              <a:rPr lang="pl-PL" noProof="0"/>
              <a:t>Kliknij, aby edytować styl wzorca podtytułu</a:t>
            </a:r>
          </a:p>
        </p:txBody>
      </p:sp>
      <p:sp>
        <p:nvSpPr>
          <p:cNvPr id="8" name="Rectangle 21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9" name="Rectangle 2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10" name="Rectangle 2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4B67B885-CDB8-4060-9F36-8708DCFF0E2B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06610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08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11881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0" y="1752600"/>
            <a:ext cx="44958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4958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84423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8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4094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55434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791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5446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l-PL" noProof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00693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5918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858000" y="322263"/>
            <a:ext cx="2286000" cy="5697537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0" y="322263"/>
            <a:ext cx="6705600" cy="5697537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40312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ytuł i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574675" y="322263"/>
            <a:ext cx="8001000" cy="820737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abeli 2"/>
          <p:cNvSpPr>
            <a:spLocks noGrp="1"/>
          </p:cNvSpPr>
          <p:nvPr>
            <p:ph type="tbl" idx="1"/>
          </p:nvPr>
        </p:nvSpPr>
        <p:spPr>
          <a:xfrm>
            <a:off x="0" y="1752600"/>
            <a:ext cx="9144000" cy="4267200"/>
          </a:xfrm>
        </p:spPr>
        <p:txBody>
          <a:bodyPr/>
          <a:lstStyle/>
          <a:p>
            <a:pPr lvl="0"/>
            <a:endParaRPr lang="pl-PL" noProof="0"/>
          </a:p>
        </p:txBody>
      </p:sp>
      <p:sp>
        <p:nvSpPr>
          <p:cNvPr id="4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81116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ytuł, tekst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574675" y="322263"/>
            <a:ext cx="8001000" cy="820737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sz="half" idx="1"/>
          </p:nvPr>
        </p:nvSpPr>
        <p:spPr>
          <a:xfrm>
            <a:off x="0" y="1752600"/>
            <a:ext cx="4495800" cy="42672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495800" cy="42672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3261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ytuł, tekst i 2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574675" y="322263"/>
            <a:ext cx="8001000" cy="820737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sz="half" idx="1"/>
          </p:nvPr>
        </p:nvSpPr>
        <p:spPr>
          <a:xfrm>
            <a:off x="0" y="1752600"/>
            <a:ext cx="4495800" cy="42672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quarter" idx="2"/>
          </p:nvPr>
        </p:nvSpPr>
        <p:spPr>
          <a:xfrm>
            <a:off x="4648200" y="1752600"/>
            <a:ext cx="4495800" cy="20574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zawartości 4"/>
          <p:cNvSpPr>
            <a:spLocks noGrp="1"/>
          </p:cNvSpPr>
          <p:nvPr>
            <p:ph sz="quarter" idx="3"/>
          </p:nvPr>
        </p:nvSpPr>
        <p:spPr>
          <a:xfrm>
            <a:off x="4648200" y="3962400"/>
            <a:ext cx="4495800" cy="20574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7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25317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ytuł, tekst i cli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574675" y="322263"/>
            <a:ext cx="8001000" cy="820737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sz="half" idx="1"/>
          </p:nvPr>
        </p:nvSpPr>
        <p:spPr>
          <a:xfrm>
            <a:off x="0" y="1752600"/>
            <a:ext cx="4495800" cy="42672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obiektu clipart 3"/>
          <p:cNvSpPr>
            <a:spLocks noGrp="1"/>
          </p:cNvSpPr>
          <p:nvPr>
            <p:ph type="clipArt" sz="half" idx="2"/>
          </p:nvPr>
        </p:nvSpPr>
        <p:spPr>
          <a:xfrm>
            <a:off x="4648200" y="1752600"/>
            <a:ext cx="4495800" cy="4267200"/>
          </a:xfrm>
        </p:spPr>
        <p:txBody>
          <a:bodyPr/>
          <a:lstStyle/>
          <a:p>
            <a:pPr lvl="0"/>
            <a:endParaRPr lang="pl-PL" noProof="0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0856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7" descr="WNE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803900"/>
            <a:ext cx="373380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22263"/>
            <a:ext cx="8001000" cy="820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 wzorca tytułu</a:t>
            </a:r>
          </a:p>
        </p:txBody>
      </p:sp>
      <p:sp>
        <p:nvSpPr>
          <p:cNvPr id="1028" name="Rectangle 19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752600"/>
            <a:ext cx="9144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</a:t>
            </a:r>
          </a:p>
          <a:p>
            <a:pPr lvl="3"/>
            <a:r>
              <a:rPr lang="pl-PL" altLang="pl-PL"/>
              <a:t>m</a:t>
            </a:r>
          </a:p>
        </p:txBody>
      </p:sp>
      <p:sp>
        <p:nvSpPr>
          <p:cNvPr id="1029" name="AutoShape 20"/>
          <p:cNvSpPr>
            <a:spLocks noChangeArrowheads="1"/>
          </p:cNvSpPr>
          <p:nvPr userDrawn="1"/>
        </p:nvSpPr>
        <p:spPr bwMode="auto">
          <a:xfrm>
            <a:off x="611188" y="1196975"/>
            <a:ext cx="7958137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992035"/>
          </a:solidFill>
          <a:ln w="9525">
            <a:solidFill>
              <a:srgbClr val="992035"/>
            </a:solidFill>
            <a:round/>
            <a:headEnd/>
            <a:tailEnd/>
          </a:ln>
        </p:spPr>
        <p:txBody>
          <a:bodyPr/>
          <a:lstStyle/>
          <a:p>
            <a:endParaRPr lang="pl-PL"/>
          </a:p>
        </p:txBody>
      </p:sp>
      <p:sp>
        <p:nvSpPr>
          <p:cNvPr id="1030" name="Line 21"/>
          <p:cNvSpPr>
            <a:spLocks noChangeShapeType="1"/>
          </p:cNvSpPr>
          <p:nvPr userDrawn="1"/>
        </p:nvSpPr>
        <p:spPr bwMode="auto">
          <a:xfrm flipV="1">
            <a:off x="684213" y="5876925"/>
            <a:ext cx="7924800" cy="0"/>
          </a:xfrm>
          <a:prstGeom prst="line">
            <a:avLst/>
          </a:prstGeom>
          <a:noFill/>
          <a:ln w="3175">
            <a:solidFill>
              <a:srgbClr val="99203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l-PL"/>
          </a:p>
        </p:txBody>
      </p:sp>
      <p:sp>
        <p:nvSpPr>
          <p:cNvPr id="1046" name="Rectangle 2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1047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2059" name="Rectangle 30"/>
          <p:cNvSpPr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1400">
                <a:solidFill>
                  <a:srgbClr val="0C3580"/>
                </a:solidFill>
                <a:latin typeface="Tahoma" pitchFamily="34" charset="0"/>
              </a:defRPr>
            </a:lvl1pPr>
            <a:lvl2pPr marL="742950" indent="-285750" eaLnBrk="0" hangingPunct="0">
              <a:defRPr sz="1400">
                <a:solidFill>
                  <a:srgbClr val="0C3580"/>
                </a:solidFill>
                <a:latin typeface="Tahoma" pitchFamily="34" charset="0"/>
              </a:defRPr>
            </a:lvl2pPr>
            <a:lvl3pPr marL="1143000" indent="-228600" eaLnBrk="0" hangingPunct="0">
              <a:defRPr sz="1400">
                <a:solidFill>
                  <a:srgbClr val="0C3580"/>
                </a:solidFill>
                <a:latin typeface="Tahoma" pitchFamily="34" charset="0"/>
              </a:defRPr>
            </a:lvl3pPr>
            <a:lvl4pPr marL="1600200" indent="-228600" eaLnBrk="0" hangingPunct="0">
              <a:defRPr sz="1400">
                <a:solidFill>
                  <a:srgbClr val="0C3580"/>
                </a:solidFill>
                <a:latin typeface="Tahoma" pitchFamily="34" charset="0"/>
              </a:defRPr>
            </a:lvl4pPr>
            <a:lvl5pPr marL="2057400" indent="-228600" eaLnBrk="0" hangingPunct="0">
              <a:defRPr sz="1400">
                <a:solidFill>
                  <a:srgbClr val="0C3580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C3580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C3580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C3580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C3580"/>
                </a:solidFill>
                <a:latin typeface="Tahoma" pitchFamily="34" charset="0"/>
              </a:defRPr>
            </a:lvl9pPr>
          </a:lstStyle>
          <a:p>
            <a:pPr algn="r" eaLnBrk="1" hangingPunct="1">
              <a:defRPr/>
            </a:pPr>
            <a:fld id="{61D9BA87-2EF2-4060-B9B3-95AB92407CF9}" type="slidenum">
              <a:rPr lang="pl-PL" altLang="pl-PL" sz="1200" smtClean="0">
                <a:solidFill>
                  <a:schemeClr val="tx1"/>
                </a:solidFill>
                <a:latin typeface="Verdana" pitchFamily="34" charset="0"/>
              </a:rPr>
              <a:pPr algn="r" eaLnBrk="1" hangingPunct="1">
                <a:defRPr/>
              </a:pPr>
              <a:t>‹#›</a:t>
            </a:fld>
            <a:endParaRPr lang="pl-PL" altLang="pl-PL" sz="1200">
              <a:solidFill>
                <a:schemeClr val="tx1"/>
              </a:solidFill>
              <a:latin typeface="Verdan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11" r:id="rId1"/>
    <p:sldLayoutId id="2147485697" r:id="rId2"/>
    <p:sldLayoutId id="2147485698" r:id="rId3"/>
    <p:sldLayoutId id="2147485699" r:id="rId4"/>
    <p:sldLayoutId id="2147485700" r:id="rId5"/>
    <p:sldLayoutId id="2147485701" r:id="rId6"/>
    <p:sldLayoutId id="2147485702" r:id="rId7"/>
    <p:sldLayoutId id="2147485703" r:id="rId8"/>
    <p:sldLayoutId id="2147485704" r:id="rId9"/>
    <p:sldLayoutId id="2147485705" r:id="rId10"/>
    <p:sldLayoutId id="2147485706" r:id="rId11"/>
    <p:sldLayoutId id="2147485707" r:id="rId12"/>
    <p:sldLayoutId id="2147485708" r:id="rId13"/>
    <p:sldLayoutId id="2147485709" r:id="rId14"/>
    <p:sldLayoutId id="2147485710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33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3366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3366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3366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3366"/>
          </a:solidFill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3366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3366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3366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3366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C0626"/>
        </a:buClr>
        <a:buFont typeface="Wingdings" pitchFamily="2" charset="2"/>
        <a:buChar char="§"/>
        <a:defRPr sz="3000">
          <a:solidFill>
            <a:srgbClr val="0033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AC0626"/>
        </a:buClr>
        <a:buFont typeface="Wingdings" pitchFamily="2" charset="2"/>
        <a:buChar char="§"/>
        <a:defRPr sz="2600">
          <a:solidFill>
            <a:srgbClr val="0033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AC0626"/>
        </a:buClr>
        <a:buFont typeface="Wingdings" pitchFamily="2" charset="2"/>
        <a:buChar char="ü"/>
        <a:defRPr sz="2300">
          <a:solidFill>
            <a:srgbClr val="003366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AC0626"/>
        </a:buClr>
        <a:buFont typeface="Wingdings" pitchFamily="2" charset="2"/>
        <a:buChar char="§"/>
        <a:defRPr>
          <a:solidFill>
            <a:srgbClr val="0C3580"/>
          </a:solidFill>
          <a:latin typeface="Tahoma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9933"/>
        </a:buClr>
        <a:buFont typeface="Wingdings" pitchFamily="2" charset="2"/>
        <a:buChar char="§"/>
        <a:defRPr>
          <a:solidFill>
            <a:srgbClr val="0C3580"/>
          </a:solidFill>
          <a:latin typeface="Tahoma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FF9933"/>
        </a:buClr>
        <a:buFont typeface="Wingdings" pitchFamily="2" charset="2"/>
        <a:buChar char="§"/>
        <a:defRPr>
          <a:solidFill>
            <a:srgbClr val="0C3580"/>
          </a:solidFill>
          <a:latin typeface="Tahoma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FF9933"/>
        </a:buClr>
        <a:buFont typeface="Wingdings" pitchFamily="2" charset="2"/>
        <a:buChar char="§"/>
        <a:defRPr>
          <a:solidFill>
            <a:srgbClr val="0C3580"/>
          </a:solidFill>
          <a:latin typeface="Tahoma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FF9933"/>
        </a:buClr>
        <a:buFont typeface="Wingdings" pitchFamily="2" charset="2"/>
        <a:buChar char="§"/>
        <a:defRPr>
          <a:solidFill>
            <a:srgbClr val="0C3580"/>
          </a:solidFill>
          <a:latin typeface="Tahoma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FF9933"/>
        </a:buClr>
        <a:buFont typeface="Wingdings" pitchFamily="2" charset="2"/>
        <a:buChar char="§"/>
        <a:defRPr>
          <a:solidFill>
            <a:srgbClr val="0C3580"/>
          </a:solidFill>
          <a:latin typeface="Tahoma" pitchFamily="34" charset="0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Tytuł 1"/>
          <p:cNvSpPr>
            <a:spLocks noGrp="1"/>
          </p:cNvSpPr>
          <p:nvPr>
            <p:ph type="title"/>
          </p:nvPr>
        </p:nvSpPr>
        <p:spPr>
          <a:xfrm>
            <a:off x="0" y="322263"/>
            <a:ext cx="9144000" cy="820737"/>
          </a:xfrm>
        </p:spPr>
        <p:txBody>
          <a:bodyPr/>
          <a:lstStyle/>
          <a:p>
            <a:r>
              <a:rPr lang="pl-PL" altLang="pl-PL" dirty="0" err="1"/>
              <a:t>Confusion</a:t>
            </a:r>
            <a:r>
              <a:rPr lang="pl-PL" altLang="pl-PL" dirty="0"/>
              <a:t> matrix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40768"/>
            <a:ext cx="7992888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B3F19CDF-0BF6-99C1-F8DD-78C1785656DA}"/>
              </a:ext>
            </a:extLst>
          </p:cNvPr>
          <p:cNvSpPr txBox="1"/>
          <p:nvPr/>
        </p:nvSpPr>
        <p:spPr>
          <a:xfrm>
            <a:off x="7740352" y="2708920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chemeClr val="tx1"/>
                </a:solidFill>
                <a:latin typeface="Georgia" panose="02040502050405020303" pitchFamily="18" charset="0"/>
                <a:ea typeface="Verdana" panose="020B0604030504040204" pitchFamily="34" charset="0"/>
                <a:cs typeface="Tahoma" panose="020B0604030504040204" pitchFamily="34" charset="0"/>
              </a:rPr>
              <a:t>(RECALL)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5CFC3-D13C-A09A-66C6-20DAE4133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Tytuł 1">
            <a:extLst>
              <a:ext uri="{FF2B5EF4-FFF2-40B4-BE49-F238E27FC236}">
                <a16:creationId xmlns:a16="http://schemas.microsoft.com/office/drawing/2014/main" id="{F8FB04C1-C23E-0793-5DA4-7612316A8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2263"/>
            <a:ext cx="9144000" cy="820737"/>
          </a:xfrm>
        </p:spPr>
        <p:txBody>
          <a:bodyPr/>
          <a:lstStyle/>
          <a:p>
            <a:r>
              <a:rPr lang="pl-PL" altLang="pl-PL" dirty="0" err="1"/>
              <a:t>Confusion</a:t>
            </a:r>
            <a:r>
              <a:rPr lang="pl-PL" altLang="pl-PL" dirty="0"/>
              <a:t> matrix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5B348855-698E-E0E5-1E88-216FF3D02C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62" r="14139"/>
          <a:stretch/>
        </p:blipFill>
        <p:spPr>
          <a:xfrm>
            <a:off x="1475656" y="1340768"/>
            <a:ext cx="6379054" cy="471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420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065213"/>
          </a:xfrm>
        </p:spPr>
        <p:txBody>
          <a:bodyPr/>
          <a:lstStyle/>
          <a:p>
            <a:pPr eaLnBrk="1" hangingPunct="1"/>
            <a:r>
              <a:rPr lang="pl-PL" altLang="pl-PL" sz="3000" dirty="0" err="1"/>
              <a:t>Accuracy</a:t>
            </a:r>
            <a:r>
              <a:rPr lang="pl-PL" altLang="pl-PL" sz="3000" dirty="0"/>
              <a:t> / Dokładność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9144000" cy="4724400"/>
          </a:xfrm>
        </p:spPr>
        <p:txBody>
          <a:bodyPr/>
          <a:lstStyle/>
          <a:p>
            <a:pPr lvl="1" eaLnBrk="1" hangingPunct="1"/>
            <a:r>
              <a:rPr lang="pl-PL" altLang="pl-PL" dirty="0" err="1"/>
              <a:t>Accuracy</a:t>
            </a:r>
            <a:r>
              <a:rPr lang="pl-PL" altLang="pl-PL" dirty="0"/>
              <a:t> = ogólna trafność klasyfikatora</a:t>
            </a:r>
          </a:p>
          <a:p>
            <a:pPr lvl="1" eaLnBrk="1" hangingPunct="1"/>
            <a:r>
              <a:rPr lang="pl-PL" altLang="pl-PL" dirty="0"/>
              <a:t>Stosunek ilości poprawnie zaklasyfikowanych obserwacji do ilości wszystkich obserwacji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77C512F6-C6E1-1B30-5E21-BE9C6DC99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3062236"/>
            <a:ext cx="5296076" cy="13028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065213"/>
          </a:xfrm>
        </p:spPr>
        <p:txBody>
          <a:bodyPr/>
          <a:lstStyle/>
          <a:p>
            <a:pPr eaLnBrk="1" hangingPunct="1"/>
            <a:r>
              <a:rPr lang="pl-PL" altLang="pl-PL" sz="2400" dirty="0"/>
              <a:t>Precision - spośród wszystkich przewidzianych "tak", ile faktycznie było "tak"?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9144000" cy="4724400"/>
          </a:xfrm>
        </p:spPr>
        <p:txBody>
          <a:bodyPr/>
          <a:lstStyle/>
          <a:p>
            <a:pPr lvl="1" eaLnBrk="1" hangingPunct="1"/>
            <a:r>
              <a:rPr lang="pl-PL" altLang="pl-PL" dirty="0"/>
              <a:t>Precision = dokładność klasyfikacji w obrębie prognozowanej klasy „</a:t>
            </a:r>
            <a:r>
              <a:rPr lang="pl-PL" altLang="pl-PL" dirty="0" err="1"/>
              <a:t>positive</a:t>
            </a:r>
            <a:r>
              <a:rPr lang="pl-PL" altLang="pl-PL" dirty="0"/>
              <a:t>”  </a:t>
            </a:r>
            <a:br>
              <a:rPr lang="pl-PL" altLang="pl-PL" dirty="0"/>
            </a:br>
            <a:r>
              <a:rPr lang="pl-PL" altLang="pl-PL" dirty="0"/>
              <a:t>(</a:t>
            </a:r>
            <a:r>
              <a:rPr lang="pl-PL" dirty="0"/>
              <a:t>jakość przewidzianych </a:t>
            </a:r>
            <a:r>
              <a:rPr lang="pl-PL" altLang="pl-PL" dirty="0"/>
              <a:t>"</a:t>
            </a:r>
            <a:r>
              <a:rPr lang="pl-PL" dirty="0"/>
              <a:t>tak</a:t>
            </a:r>
            <a:r>
              <a:rPr lang="pl-PL" altLang="pl-PL" dirty="0"/>
              <a:t>"</a:t>
            </a:r>
            <a:r>
              <a:rPr lang="pl-PL" dirty="0"/>
              <a:t>)</a:t>
            </a:r>
            <a:endParaRPr lang="pl-PL" altLang="pl-PL" dirty="0"/>
          </a:p>
          <a:p>
            <a:pPr lvl="1" eaLnBrk="1" hangingPunct="1"/>
            <a:r>
              <a:rPr lang="pl-PL" altLang="pl-PL" dirty="0"/>
              <a:t>Inne nazwy: </a:t>
            </a:r>
            <a:r>
              <a:rPr lang="pl-PL" altLang="pl-PL" dirty="0" err="1"/>
              <a:t>Positive</a:t>
            </a:r>
            <a:r>
              <a:rPr lang="pl-PL" altLang="pl-PL" dirty="0"/>
              <a:t> </a:t>
            </a:r>
            <a:r>
              <a:rPr lang="pl-PL" altLang="pl-PL" dirty="0" err="1"/>
              <a:t>Predictive</a:t>
            </a:r>
            <a:r>
              <a:rPr lang="pl-PL" altLang="pl-PL" dirty="0"/>
              <a:t> Value (PPV), Precyzja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CFEAB58C-F1E4-CFDE-26A1-14F3C12E4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215" y="3429000"/>
            <a:ext cx="3880896" cy="127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268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82"/>
            <a:ext cx="9144000" cy="1194732"/>
          </a:xfrm>
        </p:spPr>
        <p:txBody>
          <a:bodyPr/>
          <a:lstStyle/>
          <a:p>
            <a:pPr eaLnBrk="1" hangingPunct="1"/>
            <a:r>
              <a:rPr lang="pl-PL" altLang="pl-PL" sz="2400" dirty="0" err="1"/>
              <a:t>Sensitivity</a:t>
            </a:r>
            <a:r>
              <a:rPr lang="pl-PL" altLang="pl-PL" sz="2400" dirty="0"/>
              <a:t> (</a:t>
            </a:r>
            <a:r>
              <a:rPr lang="pl-PL" altLang="pl-PL" sz="2400" dirty="0" err="1"/>
              <a:t>Recall</a:t>
            </a:r>
            <a:r>
              <a:rPr lang="pl-PL" altLang="pl-PL" sz="2400" dirty="0"/>
              <a:t>) - spośród wszystkich rzeczywistych „tak", ile model poprawnie wykrył jako „tak"?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9144000" cy="4724400"/>
          </a:xfrm>
        </p:spPr>
        <p:txBody>
          <a:bodyPr/>
          <a:lstStyle/>
          <a:p>
            <a:pPr lvl="1" eaLnBrk="1" hangingPunct="1"/>
            <a:r>
              <a:rPr lang="pl-PL" altLang="pl-PL" dirty="0" err="1"/>
              <a:t>Sensitivity</a:t>
            </a:r>
            <a:r>
              <a:rPr lang="pl-PL" altLang="pl-PL" dirty="0"/>
              <a:t> = dokładność klasyfikacji w obrębie rzeczywistej klasy „</a:t>
            </a:r>
            <a:r>
              <a:rPr lang="pl-PL" altLang="pl-PL" dirty="0" err="1"/>
              <a:t>positive</a:t>
            </a:r>
            <a:r>
              <a:rPr lang="pl-PL" altLang="pl-PL" dirty="0"/>
              <a:t>” </a:t>
            </a:r>
            <a:br>
              <a:rPr lang="pl-PL" altLang="pl-PL" dirty="0"/>
            </a:br>
            <a:r>
              <a:rPr lang="pl-PL" altLang="pl-PL" dirty="0"/>
              <a:t>(kompletność wykrycia rzeczywistych "tak")</a:t>
            </a:r>
          </a:p>
          <a:p>
            <a:pPr lvl="1" eaLnBrk="1" hangingPunct="1"/>
            <a:r>
              <a:rPr lang="pl-PL" altLang="pl-PL" dirty="0"/>
              <a:t>Inne nazwy: True </a:t>
            </a:r>
            <a:r>
              <a:rPr lang="pl-PL" altLang="pl-PL" dirty="0" err="1"/>
              <a:t>Positive</a:t>
            </a:r>
            <a:r>
              <a:rPr lang="pl-PL" altLang="pl-PL" dirty="0"/>
              <a:t> </a:t>
            </a:r>
            <a:r>
              <a:rPr lang="pl-PL" altLang="pl-PL" dirty="0" err="1"/>
              <a:t>Rate</a:t>
            </a:r>
            <a:r>
              <a:rPr lang="pl-PL" altLang="pl-PL" dirty="0"/>
              <a:t> (TPR), </a:t>
            </a:r>
            <a:r>
              <a:rPr lang="pl-PL" altLang="pl-PL" dirty="0" err="1"/>
              <a:t>Recall</a:t>
            </a:r>
            <a:r>
              <a:rPr lang="pl-PL" altLang="pl-PL" dirty="0"/>
              <a:t>, Czułość / wrażliwość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4742C500-2F9E-D672-A0A6-D70A45CC0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3573016"/>
            <a:ext cx="3273707" cy="117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111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065213"/>
          </a:xfrm>
        </p:spPr>
        <p:txBody>
          <a:bodyPr/>
          <a:lstStyle/>
          <a:p>
            <a:pPr eaLnBrk="1" hangingPunct="1"/>
            <a:r>
              <a:rPr lang="pl-PL" altLang="pl-PL" sz="2400" dirty="0" err="1"/>
              <a:t>Specificity</a:t>
            </a:r>
            <a:r>
              <a:rPr lang="pl-PL" altLang="pl-PL" sz="2400" dirty="0"/>
              <a:t> - spośród wszystkich rzeczywistych "nie", ile model poprawnie wykrył jako "nie"?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9144000" cy="4724400"/>
          </a:xfrm>
        </p:spPr>
        <p:txBody>
          <a:bodyPr/>
          <a:lstStyle/>
          <a:p>
            <a:pPr lvl="1" eaLnBrk="1" hangingPunct="1"/>
            <a:r>
              <a:rPr lang="pl-PL" altLang="pl-PL" dirty="0" err="1"/>
              <a:t>Specificity</a:t>
            </a:r>
            <a:r>
              <a:rPr lang="pl-PL" altLang="pl-PL" dirty="0"/>
              <a:t> = dokładność klasyfikacji w obrębie rzeczywistej klasy „</a:t>
            </a:r>
            <a:r>
              <a:rPr lang="pl-PL" altLang="pl-PL" dirty="0" err="1"/>
              <a:t>negative</a:t>
            </a:r>
            <a:r>
              <a:rPr lang="pl-PL" altLang="pl-PL" dirty="0"/>
              <a:t>” </a:t>
            </a:r>
            <a:br>
              <a:rPr lang="pl-PL" altLang="pl-PL" dirty="0"/>
            </a:br>
            <a:r>
              <a:rPr lang="pl-PL" altLang="pl-PL" dirty="0"/>
              <a:t>(kompletność wykrycia rzeczywistych "nie")</a:t>
            </a:r>
          </a:p>
          <a:p>
            <a:pPr lvl="1" eaLnBrk="1" hangingPunct="1"/>
            <a:r>
              <a:rPr lang="pl-PL" altLang="pl-PL" dirty="0"/>
              <a:t>Inne nazwy: True </a:t>
            </a:r>
            <a:r>
              <a:rPr lang="pl-PL" altLang="pl-PL" dirty="0" err="1"/>
              <a:t>Negative</a:t>
            </a:r>
            <a:r>
              <a:rPr lang="pl-PL" altLang="pl-PL" dirty="0"/>
              <a:t> </a:t>
            </a:r>
            <a:r>
              <a:rPr lang="pl-PL" altLang="pl-PL" dirty="0" err="1"/>
              <a:t>Rate</a:t>
            </a:r>
            <a:r>
              <a:rPr lang="pl-PL" altLang="pl-PL" dirty="0"/>
              <a:t> (TNR), Specyficzność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7ABFC24-5600-F137-AE3D-C4C10F4F9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3573016"/>
            <a:ext cx="3672408" cy="120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489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065213"/>
          </a:xfrm>
        </p:spPr>
        <p:txBody>
          <a:bodyPr/>
          <a:lstStyle/>
          <a:p>
            <a:pPr eaLnBrk="1" hangingPunct="1"/>
            <a:r>
              <a:rPr lang="pl-PL" altLang="pl-PL" sz="2400" dirty="0" err="1"/>
              <a:t>Negative</a:t>
            </a:r>
            <a:r>
              <a:rPr lang="pl-PL" altLang="pl-PL" sz="2400" dirty="0"/>
              <a:t> </a:t>
            </a:r>
            <a:r>
              <a:rPr lang="pl-PL" altLang="pl-PL" sz="2400" dirty="0" err="1"/>
              <a:t>Predictive</a:t>
            </a:r>
            <a:r>
              <a:rPr lang="pl-PL" altLang="pl-PL" sz="2400" dirty="0"/>
              <a:t> Value - spośród wszystkich przewidzianych „nie", ile faktycznie było „nie"?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9144000" cy="4724400"/>
          </a:xfrm>
        </p:spPr>
        <p:txBody>
          <a:bodyPr/>
          <a:lstStyle/>
          <a:p>
            <a:pPr lvl="1" eaLnBrk="1" hangingPunct="1"/>
            <a:r>
              <a:rPr lang="pl-PL" altLang="pl-PL" dirty="0"/>
              <a:t>NPV = dokładność klasyfikacji w obrębie prognozowanej klasy „</a:t>
            </a:r>
            <a:r>
              <a:rPr lang="pl-PL" altLang="pl-PL" dirty="0" err="1"/>
              <a:t>negative</a:t>
            </a:r>
            <a:r>
              <a:rPr lang="pl-PL" altLang="pl-PL" dirty="0"/>
              <a:t>” </a:t>
            </a:r>
            <a:br>
              <a:rPr lang="pl-PL" altLang="pl-PL" dirty="0"/>
            </a:br>
            <a:r>
              <a:rPr lang="pl-PL" altLang="pl-PL" dirty="0"/>
              <a:t>(</a:t>
            </a:r>
            <a:r>
              <a:rPr lang="pl-PL" dirty="0"/>
              <a:t>jakość przewidzianych </a:t>
            </a:r>
            <a:r>
              <a:rPr lang="pl-PL" altLang="pl-PL" dirty="0"/>
              <a:t>"</a:t>
            </a:r>
            <a:r>
              <a:rPr lang="pl-PL" dirty="0"/>
              <a:t>nie</a:t>
            </a:r>
            <a:r>
              <a:rPr lang="pl-PL" altLang="pl-PL" dirty="0"/>
              <a:t>"</a:t>
            </a:r>
            <a:r>
              <a:rPr lang="pl-PL" dirty="0"/>
              <a:t>)</a:t>
            </a:r>
            <a:endParaRPr lang="pl-PL" altLang="pl-PL" dirty="0"/>
          </a:p>
          <a:p>
            <a:pPr lvl="1" eaLnBrk="1" hangingPunct="1"/>
            <a:r>
              <a:rPr lang="pl-PL" altLang="pl-PL" dirty="0"/>
              <a:t>Inne nazwy: </a:t>
            </a:r>
            <a:r>
              <a:rPr lang="pl-PL" altLang="pl-PL" dirty="0" err="1"/>
              <a:t>Negative</a:t>
            </a:r>
            <a:r>
              <a:rPr lang="pl-PL" altLang="pl-PL" dirty="0"/>
              <a:t> </a:t>
            </a:r>
            <a:r>
              <a:rPr lang="pl-PL" altLang="pl-PL" dirty="0" err="1"/>
              <a:t>Predictive</a:t>
            </a:r>
            <a:r>
              <a:rPr lang="pl-PL" altLang="pl-PL" dirty="0"/>
              <a:t> Value (NPV), Precyzja negatywna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0373BF65-4A81-6DBA-8D77-483DE6EFF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3573016"/>
            <a:ext cx="2988658" cy="112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38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065213"/>
          </a:xfrm>
        </p:spPr>
        <p:txBody>
          <a:bodyPr/>
          <a:lstStyle/>
          <a:p>
            <a:pPr eaLnBrk="1" hangingPunct="1"/>
            <a:r>
              <a:rPr lang="pl-PL" altLang="pl-PL" sz="3000" dirty="0"/>
              <a:t>F-</a:t>
            </a:r>
            <a:r>
              <a:rPr lang="pl-PL" altLang="pl-PL" sz="3000" dirty="0" err="1"/>
              <a:t>measure</a:t>
            </a:r>
            <a:endParaRPr lang="pl-PL" altLang="pl-PL" sz="3000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9144000" cy="4724400"/>
          </a:xfrm>
        </p:spPr>
        <p:txBody>
          <a:bodyPr/>
          <a:lstStyle/>
          <a:p>
            <a:pPr lvl="1" eaLnBrk="1" hangingPunct="1"/>
            <a:r>
              <a:rPr lang="pl-PL" altLang="pl-PL" sz="2400" dirty="0"/>
              <a:t>F-</a:t>
            </a:r>
            <a:r>
              <a:rPr lang="pl-PL" altLang="pl-PL" sz="2400" dirty="0" err="1"/>
              <a:t>measure</a:t>
            </a:r>
            <a:r>
              <a:rPr lang="pl-PL" altLang="pl-PL" sz="2400" dirty="0"/>
              <a:t> = wykorzystuje średnią harmoniczną precyzji (precision) i czułości (</a:t>
            </a:r>
            <a:r>
              <a:rPr lang="pl-PL" altLang="pl-PL" sz="2400" dirty="0" err="1"/>
              <a:t>sensitivity</a:t>
            </a:r>
            <a:r>
              <a:rPr lang="pl-PL" altLang="pl-PL" sz="2400" dirty="0"/>
              <a:t>; </a:t>
            </a:r>
            <a:r>
              <a:rPr lang="pl-PL" altLang="pl-PL" sz="2400" dirty="0" err="1"/>
              <a:t>recall</a:t>
            </a:r>
            <a:r>
              <a:rPr lang="pl-PL" altLang="pl-PL" sz="2400" dirty="0"/>
              <a:t>)</a:t>
            </a:r>
          </a:p>
          <a:p>
            <a:pPr lvl="1" eaLnBrk="1" hangingPunct="1"/>
            <a:r>
              <a:rPr lang="pl-PL" altLang="pl-PL" sz="2400" dirty="0"/>
              <a:t>Inne nazwy: Miara F1, F1-measure, F1-score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274" y="2908523"/>
            <a:ext cx="6926118" cy="2896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5172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5E288-B1AF-7A6A-0F9D-D49BF2F0A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0153A1A4-95DC-6306-5ED0-021994A69B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065213"/>
          </a:xfrm>
        </p:spPr>
        <p:txBody>
          <a:bodyPr/>
          <a:lstStyle/>
          <a:p>
            <a:pPr eaLnBrk="1" hangingPunct="1"/>
            <a:r>
              <a:rPr lang="pl-PL" altLang="pl-PL" dirty="0"/>
              <a:t>Porównanie metryk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B535D8F5-C69A-1FED-4069-5C5F85C67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118180"/>
              </p:ext>
            </p:extLst>
          </p:nvPr>
        </p:nvGraphicFramePr>
        <p:xfrm>
          <a:off x="683568" y="1340769"/>
          <a:ext cx="7992888" cy="453650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52328">
                  <a:extLst>
                    <a:ext uri="{9D8B030D-6E8A-4147-A177-3AD203B41FA5}">
                      <a16:colId xmlns:a16="http://schemas.microsoft.com/office/drawing/2014/main" val="1692749134"/>
                    </a:ext>
                  </a:extLst>
                </a:gridCol>
                <a:gridCol w="5040560">
                  <a:extLst>
                    <a:ext uri="{9D8B030D-6E8A-4147-A177-3AD203B41FA5}">
                      <a16:colId xmlns:a16="http://schemas.microsoft.com/office/drawing/2014/main" val="2130609067"/>
                    </a:ext>
                  </a:extLst>
                </a:gridCol>
              </a:tblGrid>
              <a:tr h="245216">
                <a:tc>
                  <a:txBody>
                    <a:bodyPr/>
                    <a:lstStyle/>
                    <a:p>
                      <a:pPr algn="ctr"/>
                      <a:r>
                        <a:rPr lang="pl-PL" sz="1200" b="1" dirty="0"/>
                        <a:t>Metryka</a:t>
                      </a:r>
                      <a:endParaRPr lang="pl-PL" sz="1200" dirty="0"/>
                    </a:p>
                  </a:txBody>
                  <a:tcPr marL="57665" marR="57665" marT="28832" marB="28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b="1" dirty="0"/>
                        <a:t>Pytanie, na które odpowiada</a:t>
                      </a:r>
                      <a:endParaRPr lang="pl-PL" sz="1200" dirty="0"/>
                    </a:p>
                  </a:txBody>
                  <a:tcPr marL="57665" marR="57665" marT="28832" marB="28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26409"/>
                  </a:ext>
                </a:extLst>
              </a:tr>
              <a:tr h="429129">
                <a:tc>
                  <a:txBody>
                    <a:bodyPr/>
                    <a:lstStyle/>
                    <a:p>
                      <a:pPr algn="ctr"/>
                      <a:r>
                        <a:rPr lang="pl-PL" sz="1200" b="1" dirty="0"/>
                        <a:t>Precision (PPV)</a:t>
                      </a:r>
                      <a:endParaRPr lang="pl-PL" sz="1200" dirty="0"/>
                    </a:p>
                  </a:txBody>
                  <a:tcPr marL="57665" marR="57665" marT="28832" marB="28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Jeśli model przewiduje „tak”, czy przypadek rzeczywiście jest „tak”?</a:t>
                      </a:r>
                    </a:p>
                  </a:txBody>
                  <a:tcPr marL="57665" marR="57665" marT="28832" marB="28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9781345"/>
                  </a:ext>
                </a:extLst>
              </a:tr>
              <a:tr h="613041">
                <a:tc>
                  <a:txBody>
                    <a:bodyPr/>
                    <a:lstStyle/>
                    <a:p>
                      <a:pPr algn="ctr"/>
                      <a:r>
                        <a:rPr lang="pl-PL" sz="1200" b="1" dirty="0" err="1"/>
                        <a:t>Recall</a:t>
                      </a:r>
                      <a:r>
                        <a:rPr lang="pl-PL" sz="1200" b="1" dirty="0"/>
                        <a:t> (</a:t>
                      </a:r>
                      <a:r>
                        <a:rPr lang="pl-PL" sz="1200" b="1" dirty="0" err="1"/>
                        <a:t>Sensitivity</a:t>
                      </a:r>
                      <a:r>
                        <a:rPr lang="pl-PL" sz="1200" b="1" dirty="0"/>
                        <a:t>, TPR)</a:t>
                      </a:r>
                      <a:endParaRPr lang="pl-PL" sz="1200" dirty="0"/>
                    </a:p>
                  </a:txBody>
                  <a:tcPr marL="57665" marR="57665" marT="28832" marB="28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Jeśli przypadek rzeczywiście jest „tak”, czy model go poprawnie rozpozna jako „tak”?</a:t>
                      </a:r>
                    </a:p>
                  </a:txBody>
                  <a:tcPr marL="57665" marR="57665" marT="28832" marB="28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631257"/>
                  </a:ext>
                </a:extLst>
              </a:tr>
              <a:tr h="613041">
                <a:tc>
                  <a:txBody>
                    <a:bodyPr/>
                    <a:lstStyle/>
                    <a:p>
                      <a:pPr algn="ctr"/>
                      <a:r>
                        <a:rPr lang="pl-PL" sz="1200" b="1" dirty="0" err="1"/>
                        <a:t>Specificity</a:t>
                      </a:r>
                      <a:r>
                        <a:rPr lang="pl-PL" sz="1200" b="1" dirty="0"/>
                        <a:t> (TNR)</a:t>
                      </a:r>
                      <a:endParaRPr lang="pl-PL" sz="1200" dirty="0"/>
                    </a:p>
                  </a:txBody>
                  <a:tcPr marL="57665" marR="57665" marT="28832" marB="28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Jeśli przypadek rzeczywiście jest „nie”, czy model go poprawnie rozpozna jako „nie”?</a:t>
                      </a:r>
                    </a:p>
                  </a:txBody>
                  <a:tcPr marL="57665" marR="57665" marT="28832" marB="28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9608467"/>
                  </a:ext>
                </a:extLst>
              </a:tr>
              <a:tr h="429129">
                <a:tc>
                  <a:txBody>
                    <a:bodyPr/>
                    <a:lstStyle/>
                    <a:p>
                      <a:pPr algn="ctr"/>
                      <a:r>
                        <a:rPr lang="pl-PL" sz="1200" b="1"/>
                        <a:t>Negative Predictive Value (NPV)</a:t>
                      </a:r>
                      <a:endParaRPr lang="pl-PL" sz="1200"/>
                    </a:p>
                  </a:txBody>
                  <a:tcPr marL="57665" marR="57665" marT="28832" marB="28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Jeśli model przewiduje „nie”, czy przypadek rzeczywiście jest „nie”?</a:t>
                      </a:r>
                    </a:p>
                  </a:txBody>
                  <a:tcPr marL="57665" marR="57665" marT="28832" marB="28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11304"/>
                  </a:ext>
                </a:extLst>
              </a:tr>
              <a:tr h="796953">
                <a:tc>
                  <a:txBody>
                    <a:bodyPr/>
                    <a:lstStyle/>
                    <a:p>
                      <a:pPr algn="ctr"/>
                      <a:r>
                        <a:rPr lang="pl-PL" sz="1200" b="1" dirty="0"/>
                        <a:t>F1 </a:t>
                      </a:r>
                      <a:r>
                        <a:rPr lang="pl-PL" sz="1200" b="1" dirty="0" err="1"/>
                        <a:t>Score</a:t>
                      </a:r>
                      <a:endParaRPr lang="pl-PL" sz="1200" dirty="0"/>
                    </a:p>
                  </a:txBody>
                  <a:tcPr marL="57665" marR="57665" marT="28832" marB="28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Jak dobrze model równoważy poprawność przewidywań „tak” (Precision) i ich kompletność (</a:t>
                      </a:r>
                      <a:r>
                        <a:rPr lang="pl-PL" sz="1200" dirty="0" err="1"/>
                        <a:t>Recall</a:t>
                      </a:r>
                      <a:r>
                        <a:rPr lang="pl-PL" sz="1200" dirty="0"/>
                        <a:t>)?</a:t>
                      </a:r>
                    </a:p>
                  </a:txBody>
                  <a:tcPr marL="57665" marR="57665" marT="28832" marB="28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649547"/>
                  </a:ext>
                </a:extLst>
              </a:tr>
              <a:tr h="613041">
                <a:tc>
                  <a:txBody>
                    <a:bodyPr/>
                    <a:lstStyle/>
                    <a:p>
                      <a:pPr algn="ctr"/>
                      <a:r>
                        <a:rPr lang="pl-PL" sz="1200" b="1" dirty="0" err="1"/>
                        <a:t>Accuracy</a:t>
                      </a:r>
                      <a:endParaRPr lang="pl-PL" sz="1200" dirty="0"/>
                    </a:p>
                  </a:txBody>
                  <a:tcPr marL="57665" marR="57665" marT="28832" marB="28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/>
                        <a:t>Jaki procent wszystkich przypadków został poprawnie sklasyfikowany (zarówno „tak”, jak i „nie”)?</a:t>
                      </a:r>
                    </a:p>
                  </a:txBody>
                  <a:tcPr marL="57665" marR="57665" marT="28832" marB="28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386320"/>
                  </a:ext>
                </a:extLst>
              </a:tr>
              <a:tr h="79695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AUC (Area Under ROC Curve)</a:t>
                      </a:r>
                      <a:endParaRPr lang="en-US" sz="1200" dirty="0"/>
                    </a:p>
                  </a:txBody>
                  <a:tcPr marL="57665" marR="57665" marT="28832" marB="28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/>
                        <a:t>Jak dobrze model rozróżnia wszystkie przypadki „tak” </a:t>
                      </a:r>
                      <a:br>
                        <a:rPr lang="pl-PL" sz="1200" dirty="0"/>
                      </a:br>
                      <a:r>
                        <a:rPr lang="pl-PL" sz="1200" dirty="0"/>
                        <a:t>od wszystkich przypadków „nie” przy różnych progach decyzyjnych?</a:t>
                      </a:r>
                    </a:p>
                  </a:txBody>
                  <a:tcPr marL="57665" marR="57665" marT="28832" marB="288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835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680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9ABB2-E42D-A5FB-7778-CF9A187D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CF07ED-D3C4-97E7-F832-1AD72A9D1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2800" dirty="0"/>
              <a:t>Kiedy wybrać precyzję, </a:t>
            </a:r>
            <a:r>
              <a:rPr lang="pl-PL" sz="2800" dirty="0" err="1"/>
              <a:t>recall</a:t>
            </a:r>
            <a:r>
              <a:rPr lang="pl-PL" sz="2800" dirty="0"/>
              <a:t>, </a:t>
            </a:r>
            <a:br>
              <a:rPr lang="pl-PL" sz="2800" dirty="0"/>
            </a:br>
            <a:r>
              <a:rPr lang="pl-PL" sz="2800" dirty="0"/>
              <a:t>a kiedy F1 </a:t>
            </a:r>
            <a:r>
              <a:rPr lang="pl-PL" sz="2800" dirty="0" err="1"/>
              <a:t>score</a:t>
            </a:r>
            <a:r>
              <a:rPr lang="pl-PL" sz="2800" dirty="0"/>
              <a:t> w ocenie modelu?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D1037EE-86CB-3F79-4322-986F56445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52600"/>
            <a:ext cx="8676456" cy="4267200"/>
          </a:xfrm>
        </p:spPr>
        <p:txBody>
          <a:bodyPr/>
          <a:lstStyle/>
          <a:p>
            <a:pPr marL="0" indent="0">
              <a:buNone/>
            </a:pPr>
            <a:r>
              <a:rPr lang="pl-PL" sz="1600" dirty="0"/>
              <a:t>To zależy jaki typ błędów jest najbardziej istotny w analizowanym problemie i jakie skutki mają poszczególne pomyłki modelu:</a:t>
            </a:r>
          </a:p>
          <a:p>
            <a:r>
              <a:rPr lang="pl-PL" sz="1600" dirty="0"/>
              <a:t>gdy najważniejsze jest </a:t>
            </a:r>
            <a:r>
              <a:rPr lang="pl-PL" sz="1600" u="sng" dirty="0"/>
              <a:t>minimalizowanie liczby fałszywie pozytywnych </a:t>
            </a:r>
            <a:br>
              <a:rPr lang="pl-PL" sz="1600" u="sng" dirty="0"/>
            </a:br>
            <a:r>
              <a:rPr lang="pl-PL" sz="1600" dirty="0"/>
              <a:t>(np. w diagnozowaniu choroby, gdzie fałszywy alarm wiąże się z istotnymi kosztami psychologicznymi lub finansowymi), to </a:t>
            </a:r>
            <a:r>
              <a:rPr lang="pl-PL" sz="1600" b="1" dirty="0"/>
              <a:t>precyzja</a:t>
            </a:r>
            <a:r>
              <a:rPr lang="pl-PL" sz="1600" dirty="0"/>
              <a:t> będzie priorytetowa</a:t>
            </a:r>
          </a:p>
          <a:p>
            <a:endParaRPr lang="pl-PL" sz="1600" dirty="0"/>
          </a:p>
          <a:p>
            <a:r>
              <a:rPr lang="pl-PL" sz="1600" dirty="0"/>
              <a:t>gdy najważniejsze jest </a:t>
            </a:r>
            <a:r>
              <a:rPr lang="pl-PL" sz="1600" u="sng" dirty="0"/>
              <a:t>wykrycie wszystkich przypadków pozytywnych </a:t>
            </a:r>
            <a:br>
              <a:rPr lang="pl-PL" sz="1600" u="sng" dirty="0"/>
            </a:br>
            <a:r>
              <a:rPr lang="pl-PL" sz="1600" dirty="0"/>
              <a:t>(np. w wykrywaniu oszustw, gdzie przeoczenie choćby jednego przypadku jest szczególnie niebezpieczne), to </a:t>
            </a:r>
            <a:r>
              <a:rPr lang="pl-PL" sz="1600" b="1" dirty="0" err="1"/>
              <a:t>recall</a:t>
            </a:r>
            <a:r>
              <a:rPr lang="pl-PL" sz="1600" dirty="0"/>
              <a:t> będzie priorytetowy</a:t>
            </a:r>
          </a:p>
          <a:p>
            <a:endParaRPr lang="pl-PL" sz="1600" dirty="0"/>
          </a:p>
          <a:p>
            <a:r>
              <a:rPr lang="pl-PL" sz="1600" dirty="0"/>
              <a:t>gdy zarówno fałszywie pozytywne, jak i fałszywie negatywne wyniki są równie niechciane lub w sytuacjach z niezbalansowanymi danymi, gdzie pozytywne klasy są dużo rzadsze niż negatywne (np. klasyfikacja tekstu, detekcja spamu) - w takich przypadkach </a:t>
            </a:r>
            <a:r>
              <a:rPr lang="pl-PL" sz="1600" b="1" dirty="0"/>
              <a:t>F1 </a:t>
            </a:r>
            <a:r>
              <a:rPr lang="pl-PL" sz="1600" b="1" dirty="0" err="1"/>
              <a:t>score</a:t>
            </a:r>
            <a:r>
              <a:rPr lang="pl-PL" sz="1600" b="1" dirty="0"/>
              <a:t> </a:t>
            </a:r>
            <a:r>
              <a:rPr lang="pl-PL" sz="1600" dirty="0"/>
              <a:t>dostarcza najbardziej miarodajnej oceny działania modelu</a:t>
            </a:r>
          </a:p>
        </p:txBody>
      </p:sp>
    </p:spTree>
    <p:extLst>
      <p:ext uri="{BB962C8B-B14F-4D97-AF65-F5344CB8AC3E}">
        <p14:creationId xmlns:p14="http://schemas.microsoft.com/office/powerpoint/2010/main" val="504514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065213"/>
          </a:xfrm>
        </p:spPr>
        <p:txBody>
          <a:bodyPr/>
          <a:lstStyle/>
          <a:p>
            <a:pPr eaLnBrk="1" hangingPunct="1"/>
            <a:r>
              <a:rPr lang="pl-PL" altLang="pl-PL" sz="3000" dirty="0"/>
              <a:t>Krzywa ROC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9144000" cy="4724400"/>
          </a:xfrm>
        </p:spPr>
        <p:txBody>
          <a:bodyPr/>
          <a:lstStyle/>
          <a:p>
            <a:pPr lvl="1" eaLnBrk="1" hangingPunct="1"/>
            <a:r>
              <a:rPr lang="pl-PL" altLang="pl-PL" sz="2200" dirty="0" err="1"/>
              <a:t>Receiver</a:t>
            </a:r>
            <a:r>
              <a:rPr lang="pl-PL" altLang="pl-PL" sz="2200" dirty="0"/>
              <a:t> Operating </a:t>
            </a:r>
            <a:r>
              <a:rPr lang="pl-PL" altLang="pl-PL" sz="2200" dirty="0" err="1"/>
              <a:t>Characteristics</a:t>
            </a:r>
            <a:endParaRPr lang="pl-PL" altLang="pl-PL" sz="2200" dirty="0"/>
          </a:p>
          <a:p>
            <a:pPr lvl="1" eaLnBrk="1" hangingPunct="1"/>
            <a:r>
              <a:rPr lang="pl-PL" altLang="pl-PL" sz="2200" dirty="0"/>
              <a:t>wykres charakterystyczny dla danego klasyfikatora, bada stosunek wielkości TP do FP</a:t>
            </a:r>
          </a:p>
          <a:p>
            <a:pPr lvl="1" eaLnBrk="1" hangingPunct="1"/>
            <a:r>
              <a:rPr lang="pl-PL" altLang="pl-PL" sz="2200" dirty="0"/>
              <a:t>narzędzie pomagające w określeniu wydajności klasyfikatorów binarnych</a:t>
            </a:r>
          </a:p>
          <a:p>
            <a:pPr lvl="1" eaLnBrk="1" hangingPunct="1"/>
            <a:r>
              <a:rPr lang="pl-PL" altLang="pl-PL" sz="2200" dirty="0"/>
              <a:t>zawiera wiele punktów dla różnych wartości progu decyzyjnego klasyfikatora</a:t>
            </a:r>
          </a:p>
          <a:p>
            <a:pPr lvl="1" eaLnBrk="1" hangingPunct="1"/>
            <a:endParaRPr lang="pl-PL" altLang="pl-PL" sz="1400" dirty="0"/>
          </a:p>
          <a:p>
            <a:pPr lvl="1" eaLnBrk="1" hangingPunct="1"/>
            <a:r>
              <a:rPr lang="en-US" altLang="pl-PL" dirty="0"/>
              <a:t>Fall-out (False Positive Rate) = 1-Specificity</a:t>
            </a:r>
            <a:r>
              <a:rPr lang="pl-PL" altLang="pl-PL" dirty="0"/>
              <a:t> =: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678A3FF1-06F7-CB14-3AEF-0CE662F64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224" y="4869160"/>
            <a:ext cx="6797552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97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065213"/>
          </a:xfrm>
        </p:spPr>
        <p:txBody>
          <a:bodyPr/>
          <a:lstStyle/>
          <a:p>
            <a:pPr eaLnBrk="1" hangingPunct="1"/>
            <a:r>
              <a:rPr lang="pl-PL" altLang="pl-PL" sz="3000" dirty="0"/>
              <a:t>Krzywa ROC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1" t="4861" r="7505" b="6613"/>
          <a:stretch/>
        </p:blipFill>
        <p:spPr bwMode="auto">
          <a:xfrm>
            <a:off x="2051720" y="1394523"/>
            <a:ext cx="5760640" cy="5232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9923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065213"/>
          </a:xfrm>
        </p:spPr>
        <p:txBody>
          <a:bodyPr/>
          <a:lstStyle/>
          <a:p>
            <a:pPr eaLnBrk="1" hangingPunct="1"/>
            <a:r>
              <a:rPr lang="pl-PL" altLang="pl-PL" sz="3000" dirty="0"/>
              <a:t>Do przeczytania o miarach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9144000" cy="4724400"/>
          </a:xfrm>
        </p:spPr>
        <p:txBody>
          <a:bodyPr/>
          <a:lstStyle/>
          <a:p>
            <a:pPr lvl="1" eaLnBrk="1" hangingPunct="1"/>
            <a:r>
              <a:rPr lang="pl-PL" altLang="pl-PL" sz="1800" dirty="0"/>
              <a:t>Jak obliczyć dokładność modelu AI - precyzja </a:t>
            </a:r>
            <a:r>
              <a:rPr lang="pl-PL" altLang="pl-PL" sz="1800" dirty="0" err="1"/>
              <a:t>recall</a:t>
            </a:r>
            <a:r>
              <a:rPr lang="pl-PL" altLang="pl-PL" sz="1800" dirty="0"/>
              <a:t> i F1 </a:t>
            </a:r>
            <a:r>
              <a:rPr lang="pl-PL" altLang="pl-PL" sz="1800" dirty="0" err="1"/>
              <a:t>score</a:t>
            </a:r>
            <a:endParaRPr lang="pl-PL" altLang="pl-PL" sz="1800" dirty="0"/>
          </a:p>
          <a:p>
            <a:pPr marL="457200" lvl="1" indent="0" eaLnBrk="1" hangingPunct="1">
              <a:buNone/>
            </a:pPr>
            <a:r>
              <a:rPr lang="pl-PL" altLang="pl-PL" sz="1800" dirty="0"/>
              <a:t>https://maths.com.pl/jak-obliczyc-dokladnosc-modelu-ai-precyzja-recall-i-f1-score/</a:t>
            </a:r>
          </a:p>
          <a:p>
            <a:pPr lvl="1" eaLnBrk="1" hangingPunct="1"/>
            <a:endParaRPr lang="pl-PL" altLang="pl-PL" sz="1800" dirty="0"/>
          </a:p>
          <a:p>
            <a:pPr lvl="1" eaLnBrk="1" hangingPunct="1"/>
            <a:r>
              <a:rPr lang="pl-PL" altLang="pl-PL" sz="1800" dirty="0"/>
              <a:t>Precision, </a:t>
            </a:r>
            <a:r>
              <a:rPr lang="pl-PL" altLang="pl-PL" sz="1800" dirty="0" err="1"/>
              <a:t>recall</a:t>
            </a:r>
            <a:r>
              <a:rPr lang="pl-PL" altLang="pl-PL" sz="1800" dirty="0"/>
              <a:t> i F1 - miary oceny klasyfikatora</a:t>
            </a:r>
          </a:p>
          <a:p>
            <a:pPr marL="457200" lvl="1" indent="0" eaLnBrk="1" hangingPunct="1">
              <a:buNone/>
            </a:pPr>
            <a:r>
              <a:rPr lang="pl-PL" altLang="pl-PL" sz="1800" dirty="0"/>
              <a:t>https://ksopyla.com/machine-learning/precision-recall-f1-miary-oceny-klasyfikatora/</a:t>
            </a:r>
          </a:p>
          <a:p>
            <a:pPr lvl="1" eaLnBrk="1" hangingPunct="1"/>
            <a:endParaRPr lang="pl-PL" altLang="pl-PL" sz="1800" dirty="0"/>
          </a:p>
          <a:p>
            <a:pPr lvl="1" eaLnBrk="1" hangingPunct="1"/>
            <a:r>
              <a:rPr lang="en-US" altLang="pl-PL" sz="1800" dirty="0"/>
              <a:t>What is Confusion Matrix and Advanced Classification Metrics?</a:t>
            </a:r>
            <a:endParaRPr lang="pl-PL" altLang="pl-PL" sz="1800" dirty="0"/>
          </a:p>
          <a:p>
            <a:pPr marL="457200" lvl="1" indent="0" eaLnBrk="1" hangingPunct="1">
              <a:buNone/>
            </a:pPr>
            <a:r>
              <a:rPr lang="pl-PL" altLang="pl-PL" sz="1800" dirty="0"/>
              <a:t>https://manisha-sirsat.blogspot.com/2019/04/confusion-matrix.html</a:t>
            </a:r>
          </a:p>
          <a:p>
            <a:pPr lvl="1" eaLnBrk="1" hangingPunct="1"/>
            <a:endParaRPr lang="pl-PL" altLang="pl-PL" sz="1800" dirty="0"/>
          </a:p>
          <a:p>
            <a:pPr lvl="1" eaLnBrk="1" hangingPunct="1"/>
            <a:r>
              <a:rPr lang="en-US" altLang="pl-PL" sz="1800" dirty="0"/>
              <a:t>Performance Metrics for Classification problems in M</a:t>
            </a:r>
            <a:r>
              <a:rPr lang="pl-PL" altLang="pl-PL" sz="1800" dirty="0"/>
              <a:t>L</a:t>
            </a:r>
          </a:p>
          <a:p>
            <a:pPr marL="457200" lvl="1" indent="0" eaLnBrk="1" hangingPunct="1">
              <a:buNone/>
            </a:pPr>
            <a:r>
              <a:rPr lang="pl-PL" altLang="pl-PL" sz="1800" dirty="0"/>
              <a:t>https://medium.com/@MohammedS/performance-metrics-for-classification-problems-in-machine-learning-part-i-b085d432082b</a:t>
            </a:r>
          </a:p>
        </p:txBody>
      </p:sp>
    </p:spTree>
    <p:extLst>
      <p:ext uri="{BB962C8B-B14F-4D97-AF65-F5344CB8AC3E}">
        <p14:creationId xmlns:p14="http://schemas.microsoft.com/office/powerpoint/2010/main" val="1457805214"/>
      </p:ext>
    </p:extLst>
  </p:cSld>
  <p:clrMapOvr>
    <a:masterClrMapping/>
  </p:clrMapOvr>
</p:sld>
</file>

<file path=ppt/theme/theme1.xml><?xml version="1.0" encoding="utf-8"?>
<a:theme xmlns:a="http://schemas.openxmlformats.org/drawingml/2006/main" name="Projekt domyślny">
  <a:themeElements>
    <a:clrScheme name="Projekt domyślny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Projekt domyślny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rgbClr val="0C3580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rgbClr val="0C3580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Projekt domyśln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jekt domyślny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jekt domyślny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jekt domyślny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jekt domyślny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jekt domyślny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jekt domyślny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12266</TotalTime>
  <Words>1560</Words>
  <Application>Microsoft Office PowerPoint</Application>
  <PresentationFormat>Pokaz na ekranie (4:3)</PresentationFormat>
  <Paragraphs>136</Paragraphs>
  <Slides>13</Slides>
  <Notes>12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20" baseType="lpstr">
      <vt:lpstr>Arial</vt:lpstr>
      <vt:lpstr>Georgia</vt:lpstr>
      <vt:lpstr>Tahoma</vt:lpstr>
      <vt:lpstr>Times New Roman</vt:lpstr>
      <vt:lpstr>Verdana</vt:lpstr>
      <vt:lpstr>Wingdings</vt:lpstr>
      <vt:lpstr>Projekt domyślny</vt:lpstr>
      <vt:lpstr>Confusion matrix</vt:lpstr>
      <vt:lpstr>Confusion matrix</vt:lpstr>
      <vt:lpstr>Accuracy / Dokładność</vt:lpstr>
      <vt:lpstr>Precision - spośród wszystkich przewidzianych "tak", ile faktycznie było "tak"?</vt:lpstr>
      <vt:lpstr>Sensitivity (Recall) - spośród wszystkich rzeczywistych „tak", ile model poprawnie wykrył jako „tak"?</vt:lpstr>
      <vt:lpstr>Specificity - spośród wszystkich rzeczywistych "nie", ile model poprawnie wykrył jako "nie"?</vt:lpstr>
      <vt:lpstr>Negative Predictive Value - spośród wszystkich przewidzianych „nie", ile faktycznie było „nie"?</vt:lpstr>
      <vt:lpstr>F-measure</vt:lpstr>
      <vt:lpstr>Porównanie metryk</vt:lpstr>
      <vt:lpstr>Kiedy wybrać precyzję, recall,  a kiedy F1 score w ocenie modelu?</vt:lpstr>
      <vt:lpstr>Krzywa ROC</vt:lpstr>
      <vt:lpstr>Krzywa ROC</vt:lpstr>
      <vt:lpstr>Do przeczytania o miarach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 danych nieustrukturyzowanych: Text Mining</dc:title>
  <dc:creator>Karo</dc:creator>
  <cp:lastModifiedBy>Karolina Kuligowska</cp:lastModifiedBy>
  <cp:revision>1154</cp:revision>
  <cp:lastPrinted>2019-05-31T17:02:27Z</cp:lastPrinted>
  <dcterms:created xsi:type="dcterms:W3CDTF">1601-01-01T00:00:00Z</dcterms:created>
  <dcterms:modified xsi:type="dcterms:W3CDTF">2026-05-18T21:56:24Z</dcterms:modified>
</cp:coreProperties>
</file>